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okhyun-Lee/aws-db-monitoring-eks-am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okhyun-Lee/aws-db-monitoring-eks-am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AWS 데이터베이스</a:t>
            </a:r>
            <a:endParaRPr lang="en-US" sz="3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통합 모니터링 플랫폼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 + Prometheus + Amazon Managed Prometheus + Managed Grafana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엔진 수준 메트릭 수집 및 통합 모니터링 솔루션</a:t>
            </a:r>
            <a:endParaRPr lang="en-US" sz="1600" dirty="0"/>
          </a:p>
        </p:txBody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64008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github.com/Deokhyun-Lee/aws-db-monitoring-eks-amp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이덕현  |  Database Specialist SA, AWS Korea  |  2026-08-21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왜 필요한가?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4114800" cy="2194560"/>
          </a:xfrm>
          <a:prstGeom prst="rect">
            <a:avLst>
              <a:gd name="adj" fmla="val 2083"/>
            </a:avLst>
          </a:prstGeom>
          <a:solidFill>
            <a:srgbClr val="2A3A4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F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기존 한계 (CloudWatch / PI)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표면 수준 메트릭만 제공 (CPU, 메모리)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엔진 내부 상태 확인 불가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최소 60초 수집 주기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엔진별 별도 도구 사용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커스텀 메트릭 확장 어려움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4114800" cy="2194560"/>
          </a:xfrm>
          <a:prstGeom prst="rect">
            <a:avLst>
              <a:gd name="adj" fmla="val 2083"/>
            </a:avLst>
          </a:prstGeom>
          <a:solidFill>
            <a:srgbClr val="2A3A4E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C2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 플랫폼이 제공하는 것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엔진 내부 메트릭 수집 (InnoDB, pg_stat_io 등)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모든 DB 엔진 통합 뷰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15초 수집 주기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ConfigMap 기반 커스텀 메트릭 확장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자동진단을 위한 메트릭 기반 마련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 엔진: Aurora MySQL, Aurora PostgreSQL, RDS SQL Server, ElastiCache (Valkey), DynamoDB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DB 통합 모니터링 플랫폼  |  1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전체 아키텍처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1645920" cy="3474720"/>
          </a:xfrm>
          <a:prstGeom prst="rect">
            <a:avLst>
              <a:gd name="adj" fmla="val 2778"/>
            </a:avLst>
          </a:prstGeom>
          <a:solidFill>
            <a:srgbClr val="2A3A4E"/>
          </a:solidFill>
          <a:ln w="19050">
            <a:solidFill>
              <a:srgbClr val="8C68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C68C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① DB 소스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828800"/>
            <a:ext cx="1463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Aurora MySQL/PG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RDS SQL Server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ElastiCache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DynamoDB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20240" y="25603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▶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57400" y="1097280"/>
            <a:ext cx="1645920" cy="3474720"/>
          </a:xfrm>
          <a:prstGeom prst="rect">
            <a:avLst>
              <a:gd name="adj" fmla="val 2778"/>
            </a:avLst>
          </a:prstGeom>
          <a:solidFill>
            <a:srgbClr val="2A3A4E"/>
          </a:solidFill>
          <a:ln w="19050">
            <a:solidFill>
              <a:srgbClr val="1B9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7400" y="11887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9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② Exporter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9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(EKS)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48840" y="1828800"/>
            <a:ext cx="1463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mysqld_exporter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postgres_exporter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mssql_exporter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redis_exporter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703320" y="25603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40480" y="1097280"/>
            <a:ext cx="1645920" cy="3474720"/>
          </a:xfrm>
          <a:prstGeom prst="rect">
            <a:avLst>
              <a:gd name="adj" fmla="val 2778"/>
            </a:avLst>
          </a:prstGeom>
          <a:solidFill>
            <a:srgbClr val="2A3A4E"/>
          </a:solidFill>
          <a:ln w="19050">
            <a:solidFill>
              <a:srgbClr val="FF99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11887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③ 수집/전송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31920" y="1828800"/>
            <a:ext cx="1463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sigv4 인증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Write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0" y="25603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23560" y="1097280"/>
            <a:ext cx="1645920" cy="3474720"/>
          </a:xfrm>
          <a:prstGeom prst="rect">
            <a:avLst>
              <a:gd name="adj" fmla="val 2778"/>
            </a:avLst>
          </a:prstGeom>
          <a:solidFill>
            <a:srgbClr val="2A3A4E"/>
          </a:solidFill>
          <a:ln w="19050">
            <a:solidFill>
              <a:srgbClr val="1EC2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3560" y="11887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C2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④ 저장/시각화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15000" y="1828800"/>
            <a:ext cx="1463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 (저장소)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AMG (대시보드)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Recording Rules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Athena (아카이브)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269480" y="25603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406640" y="1097280"/>
            <a:ext cx="1645920" cy="3474720"/>
          </a:xfrm>
          <a:prstGeom prst="rect">
            <a:avLst>
              <a:gd name="adj" fmla="val 2778"/>
            </a:avLst>
          </a:prstGeom>
          <a:solidFill>
            <a:srgbClr val="2A3A4E"/>
          </a:solidFill>
          <a:ln w="19050">
            <a:solidFill>
              <a:srgbClr val="FF4F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0" y="11887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F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⑤ 알림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98080" y="1828800"/>
            <a:ext cx="1463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(이메일/Slack/SMS)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AlertManager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PagerDuty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DB 통합 모니터링 플랫폼  |  2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원클릭 배포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deploy-all.sh — 약 40분이면 전체 스택 배포 완료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1325880" cy="1645920"/>
          </a:xfrm>
          <a:prstGeom prst="rect">
            <a:avLst>
              <a:gd name="adj" fmla="val 3448"/>
            </a:avLst>
          </a:prstGeom>
          <a:solidFill>
            <a:srgbClr val="2A3A4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3258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" y="169164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서브넷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25603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C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3분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37360" y="1280160"/>
            <a:ext cx="1325880" cy="1645920"/>
          </a:xfrm>
          <a:prstGeom prst="rect">
            <a:avLst>
              <a:gd name="adj" fmla="val 3448"/>
            </a:avLst>
          </a:prstGeom>
          <a:solidFill>
            <a:srgbClr val="2A3A4E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13258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83080" y="169164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Aurora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5603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C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280160"/>
            <a:ext cx="1325880" cy="1645920"/>
          </a:xfrm>
          <a:prstGeom prst="rect">
            <a:avLst>
              <a:gd name="adj" fmla="val 3448"/>
            </a:avLst>
          </a:prstGeom>
          <a:solidFill>
            <a:srgbClr val="2A3A4E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3258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46120" y="169164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클러스터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0" y="25603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C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15분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280160"/>
            <a:ext cx="1325880" cy="1645920"/>
          </a:xfrm>
          <a:prstGeom prst="rect">
            <a:avLst>
              <a:gd name="adj" fmla="val 3448"/>
            </a:avLst>
          </a:prstGeom>
          <a:solidFill>
            <a:srgbClr val="2A3A4E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3258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09160" y="169164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워크스페이스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25603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C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1분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26480" y="1280160"/>
            <a:ext cx="1325880" cy="1645920"/>
          </a:xfrm>
          <a:prstGeom prst="rect">
            <a:avLst>
              <a:gd name="adj" fmla="val 3448"/>
            </a:avLst>
          </a:prstGeom>
          <a:solidFill>
            <a:srgbClr val="2A3A4E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3258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72200" y="169164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Exporter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26480" y="25603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C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5분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589520" y="1280160"/>
            <a:ext cx="1325880" cy="1645920"/>
          </a:xfrm>
          <a:prstGeom prst="rect">
            <a:avLst>
              <a:gd name="adj" fmla="val 3448"/>
            </a:avLst>
          </a:prstGeom>
          <a:solidFill>
            <a:srgbClr val="2A3A4E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0" y="13258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35240" y="169164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589520" y="25603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C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2분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200400"/>
            <a:ext cx="8229600" cy="822960"/>
          </a:xfrm>
          <a:prstGeom prst="rect">
            <a:avLst>
              <a:gd name="adj" fmla="val 5556"/>
            </a:avLst>
          </a:prstGeom>
          <a:solidFill>
            <a:srgbClr val="1A1A2E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2918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EC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clone https://github.com/Deokhyun-Lee/aws-db-monitoring-eks-amp.git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EC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aws-db-monitoring-eks-amp &amp;&amp; ./deploy-all.sh --region ap-northeast-2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비용: ~$3.5/시간  |  정리: ./cleanup.sh  |  CloudShell에서 바로 실행 가능 (로컬 설치 불필요)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DB 통합 모니터링 플랫폼  |  3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기능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2743200" cy="1737360"/>
          </a:xfrm>
          <a:prstGeom prst="rect">
            <a:avLst>
              <a:gd name="adj" fmla="val 2632"/>
            </a:avLst>
          </a:prstGeom>
          <a:solidFill>
            <a:srgbClr val="2A3A4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097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자동 디스커버리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5544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CronJob이 5분마다 AWS API 스캔.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 DB 추가 시 Exporter 자동 배포.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2743200" cy="1737360"/>
          </a:xfrm>
          <a:prstGeom prst="rect">
            <a:avLst>
              <a:gd name="adj" fmla="val 2632"/>
            </a:avLst>
          </a:prstGeom>
          <a:solidFill>
            <a:srgbClr val="2A3A4E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097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49040" y="1097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Exporter HA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37560" y="15544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Active-Active 이중화.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 Recording Rules로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제거 (0초 갭).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005840"/>
            <a:ext cx="2743200" cy="1737360"/>
          </a:xfrm>
          <a:prstGeom prst="rect">
            <a:avLst>
              <a:gd name="adj" fmla="val 2632"/>
            </a:avLst>
          </a:prstGeom>
          <a:solidFill>
            <a:srgbClr val="2A3A4E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1097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1097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멀티 어카운트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63640" y="15544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Hub-Spoke 패턴.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Cross-Account IAM.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 비용 절감.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017520"/>
            <a:ext cx="2743200" cy="1737360"/>
          </a:xfrm>
          <a:prstGeom prst="rect">
            <a:avLst>
              <a:gd name="adj" fmla="val 2632"/>
            </a:avLst>
          </a:prstGeom>
          <a:solidFill>
            <a:srgbClr val="2A3A4E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108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3108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커스텀 메트릭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35661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ConfigMap 기반 확장.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3단계로 추가.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엔진 내부 메트릭 제공.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3017520"/>
            <a:ext cx="2743200" cy="1737360"/>
          </a:xfrm>
          <a:prstGeom prst="rect">
            <a:avLst>
              <a:gd name="adj" fmla="val 2632"/>
            </a:avLst>
          </a:prstGeom>
          <a:solidFill>
            <a:srgbClr val="2A3A4E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0" y="3108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49040" y="3108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SNS 알림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37560" y="35661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26개 규칙, 3단계 심각도.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알림 폭풍 방지 설계.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이메일/Slack/SMS.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3017520"/>
            <a:ext cx="2743200" cy="1737360"/>
          </a:xfrm>
          <a:prstGeom prst="rect">
            <a:avLst>
              <a:gd name="adj" fmla="val 2632"/>
            </a:avLst>
          </a:prstGeom>
          <a:solidFill>
            <a:srgbClr val="2A3A4E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3108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75120" y="3108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S3 아카이브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63640" y="35661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 150일 제한 우회.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Parquet + Glacier 저장.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Athena로 조회 가능.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DB 통합 모니터링 플랫폼  |  4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기술 스택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3657600"/>
        </p:xfrm>
        <a:graphic>
          <a:graphicData uri="http://schemas.openxmlformats.org/drawingml/2006/table">
            <a:tbl>
              <a:tblPr/>
              <a:tblGrid>
                <a:gridCol w="1097280"/>
                <a:gridCol w="3657600"/>
                <a:gridCol w="3840480"/>
              </a:tblGrid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계층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구성 요소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역할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인프라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EKS v1.31 (3노드, m5.large)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컨테이너 오케스트레이션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Aurora MySQL 3.10.5 LTS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관계형 DB (MySQL 호환)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Aurora PostgreSQL 17.7 LTS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관계형 DB (PostgreSQL 호환)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RDS SQL Server Express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Microsoft SQL Server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ElastiCache Valkey (Multi-AZ)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인메모리 캐시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수집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Prometheus Server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메트릭 스크래핑 + Remote Write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수집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mysqld/postgres/redis_exporter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 엔진 메트릭 노출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저장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Amazon Managed Prometheus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시계열 저장소 (150일 보존)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시각화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Amazon Managed Grafana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대시보드 + 알림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아카이브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S3 Glacier + Athena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장기 보존 + 쿼리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DB 통합 모니터링 플랫폼  |  5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배포 테스트 결과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일시: 2026-08-21  |  환경: AWS CloudShell (ap-northeast-2)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3657600"/>
        </p:xfrm>
        <a:graphic>
          <a:graphicData uri="http://schemas.openxmlformats.org/drawingml/2006/table">
            <a:tbl>
              <a:tblPr/>
              <a:tblGrid>
                <a:gridCol w="2286000"/>
                <a:gridCol w="1188720"/>
                <a:gridCol w="1188720"/>
                <a:gridCol w="3931920"/>
              </a:tblGrid>
              <a:tr h="2813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구성 요소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소요 시간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3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VPC + 3AZ 서브넷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성공 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2분 33초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 GW 단일 (비용 최적화)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3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Aurora MySQL 3.10.5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성공 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~15분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Writer + Reader 2대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3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Aurora PostgreSQL 17.7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성공 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~15분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Writer + Reader 2대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3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 Server Express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성공 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~15분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db.t3.medium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3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ElastiCache Valkey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성공 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Multi-AZ, 2노드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3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EKS v1.31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성공 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~15분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3× m5.large 노드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3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AMP 워크스페이스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성공 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&lt;1분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sigv4 Remote Write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3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Prometheus Server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성공 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&lt;1분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2/2 Running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3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MySQL Exporter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성공 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&lt;1분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1/1 Running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3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 Exporter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성공 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&lt;1분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1/1 Running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3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Redis Exporter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성공 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&lt;1분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1/1 Running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3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메트릭 파이프라인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검증 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up{} 쿼리 성공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DB 통합 모니터링 플랫폼  |  6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배포 시 발견된 이슈 및 교훈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4114800" cy="3657600"/>
          </a:xfrm>
          <a:prstGeom prst="rect">
            <a:avLst>
              <a:gd name="adj" fmla="val 1250"/>
            </a:avLst>
          </a:prstGeom>
          <a:solidFill>
            <a:srgbClr val="2A3A4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F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발견 및 수정한 문제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CFn Description에 한글 사용 불가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ASCII만 허용 (영문으로 변경)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EKS 1.30 지원 종료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1.31로 업데이트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SQL Server Express + t3.xlarge 불가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Express 최대: t3.medium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VPCSecurityGroups vs VpcSecurityGroupIds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DBInstance ≠ DBCluster 속성 상이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AWS CLI 쉼표 파싱 문제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이스케이프: ${VAR//,/\\,}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ADOT Helm 차트 호환성 문제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Prometheus Server로 전환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663440" y="914400"/>
            <a:ext cx="4206240" cy="3657600"/>
          </a:xfrm>
          <a:prstGeom prst="rect">
            <a:avLst>
              <a:gd name="adj" fmla="val 1250"/>
            </a:avLst>
          </a:prstGeom>
          <a:solidFill>
            <a:srgbClr val="2A3A4E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C2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결정 사항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1417320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ADOT → Prometheus 전환 이유: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ADOT Helm 차트 v0.102.0 문제: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image.repository 필수 지정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${} 환경변수로 해석됨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filter OTTL 문법 변경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aws_auth 제거됨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Server 장점: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sigv4 Remote Write 네이티브 지원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안정적인 Helm 차트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동일한 AMP 연동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프로덕션 검증 완료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설정이 훨씬 단순함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DB 통합 모니터링 플랫폼  |  7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비용 추정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3200400"/>
        </p:xfrm>
        <a:graphic>
          <a:graphicData uri="http://schemas.openxmlformats.org/drawingml/2006/table">
            <a:tbl>
              <a:tblPr/>
              <a:tblGrid>
                <a:gridCol w="3474720"/>
                <a:gridCol w="1371600"/>
                <a:gridCol w="1371600"/>
                <a:gridCol w="23774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구성 요소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시간당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일당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월당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EKS 클러스터 (컨트롤 플레인)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3× m5.large 노드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$6.91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Aurora MySQL (3대)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$13.92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Aurora PostgreSQL (3대)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$13.92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 Server Express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ElastiCache Valkey (2노드)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AMP (수집 + 저장)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 Gateway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합계 (약)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$44.23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$1,327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워크샵/테스트 용도: 테스트 후 반드시 cleanup.sh 실행하여 불필요한 비용 방지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DB 통합 모니터링 플랫폼  |  8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시작하기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188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콘솔에서 CloudShell 열기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clone + ./deploy-all.sh 실행 (40분)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 대시보드 접속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커스텀 메트릭 추가 (ConfigMap 편집)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 어카운트 확장 (StackSet 배포)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4389120"/>
            <a:ext cx="7772400" cy="548640"/>
          </a:xfrm>
          <a:prstGeom prst="rect">
            <a:avLst>
              <a:gd name="adj" fmla="val 8333"/>
            </a:avLst>
          </a:prstGeom>
          <a:solidFill>
            <a:srgbClr val="2A3A4E"/>
          </a:solidFill>
          <a:ln/>
        </p:spPr>
      </p:sp>
      <p:sp>
        <p:nvSpPr>
          <p:cNvPr id="15" name="Text 13">
            <a:hlinkClick r:id="rId1" tooltip=""/>
          </p:cNvPr>
          <p:cNvSpPr/>
          <p:nvPr/>
        </p:nvSpPr>
        <p:spPr>
          <a:xfrm>
            <a:off x="822960" y="448056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github.com/Deokhyun-Lee/aws-db-monitoring-eks-amp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DB 통합 모니터링 플랫폼</dc:title>
  <dc:subject>PptxGenJS Presentation</dc:subject>
  <dc:creator>Deokhyun Lee</dc:creator>
  <cp:lastModifiedBy>Deokhyun Lee</cp:lastModifiedBy>
  <cp:revision>1</cp:revision>
  <dcterms:created xsi:type="dcterms:W3CDTF">2026-08-21T06:02:37Z</dcterms:created>
  <dcterms:modified xsi:type="dcterms:W3CDTF">2026-08-21T06:02:37Z</dcterms:modified>
</cp:coreProperties>
</file>